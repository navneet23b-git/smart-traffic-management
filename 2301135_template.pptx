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6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C4529A8-39C1-49AB-8419-298AB0305129}">
          <p14:sldIdLst>
            <p14:sldId id="257"/>
          </p14:sldIdLst>
        </p14:section>
        <p14:section name="Untitled Section" id="{FB1AD76F-DC2E-44D3-8BCF-C13CEBEC66FB}">
          <p14:sldIdLst>
            <p14:sldId id="260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DEF75A-0905-4AC8-B761-986CAAF51CB7}" v="201" dt="2026-03-11T11:04:16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9F691-A225-450C-BD8C-7FCF826521B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3FA1-4510-41DD-9631-7B540903E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00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83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442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1542-9B70-BC2B-9F08-140B74A8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FF4D2-6C80-A2CC-EAED-B3641FDAE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753C5-02B9-7A15-D8E5-BE6B6885B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7CC0-21EA-AF6F-1F6D-58296E6BC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55F37F-3E36-4677-88FE-31D08A695D7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7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6790-5258-C145-D078-37EE5CC52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020DC-7466-A932-B5FA-02504A6C5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45FF-9210-F2C1-2448-37141AFD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663A9-C6FB-8B24-3018-AE57F9471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94637-0C6A-4C97-5C22-A059280B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84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3063-87C4-8E7E-EDE2-88DE01BC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FDB1-38E2-468C-0A73-6059269AB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E457A-72C0-32BE-2FD3-E16E91E6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C26AB-B608-AFAC-CCC2-D8B21481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95575-427B-7133-65D0-702AB362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59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EB22-96B6-81F7-6D6F-487FB59B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1C2EC-FA6A-2D32-4DF2-F6DCCFBBB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5FA3-C4A6-C2D4-A9AC-86525023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C888-DF0E-D9CA-7264-6175C90BF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E776-0052-6FD7-B61F-AA2FE035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79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C8AA-9EB5-191E-7541-991C2302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FCB25-E3DE-6052-09A8-C8CAFAF13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B8FC9-6F15-38F0-8007-37DB8CEC7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F501-287E-8F1C-53BA-8B1500C6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8696C-51B6-C08E-EEC1-D7C7A555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9DC0C-BBD7-BFAA-B152-28674868B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25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21B5-79D2-7B2C-C791-FC9EB7A5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014B-FC33-EAB4-4576-3526FA45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C5677-1842-69A9-D4B5-D4A0FFB6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C29F86-DE07-2ED6-657E-8259CA248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E6AFB-0038-3F21-DDAB-EE8E4BC45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66D04-368B-E3A4-2DC9-79A354C4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AC324-72A1-38EF-DC80-0D553F9D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A3A865-3F86-DD39-018C-22B620F0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9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F2E9-AD77-E82D-BE8E-6634C01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0B881-A83D-ADE6-2B07-8AB04215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330C8-78D8-7CAD-06FD-26630EA4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0A805-3384-5B28-461D-F07758DD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54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AC3F3-EA2B-7051-58C8-A702D0A4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31288-FDFD-FA96-A76B-F0E478B8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2917A-9840-75D8-7279-06449730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9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89FA-7377-BD9D-19DC-0265D425A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E79A-3B40-0511-5F1F-28FB7BB9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7721-91D2-F6A3-D38C-4BDC0884E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E24A1-2BEA-95E8-3ED6-B97400EA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6BA76-77D4-E443-6831-96FB42667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EB9D8-7E45-7003-282C-CE99BD73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37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5A76-A7A8-FBC7-C740-34FB701B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70D87-E5F9-27A6-DE67-1DF33FCD6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803AF-B348-1A9A-3A95-2560FFB91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79B81-9429-0ACC-35BB-ECE333BE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DAE19-1CE7-EFC7-0531-5C959456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61CEE-0982-830E-2150-28928DED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4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78F4-F53F-B78F-AC2F-8B513D82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CCAC2-7892-EB75-8B95-74E62A6C2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F6B09-E76A-84D6-92D8-F5DA5A8F6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54480-0DA9-C12C-ABE6-9334E9C9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0ED4C-2F5B-B52A-9B44-D5948E7C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7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9C509-7E72-525B-CFD7-E9B843EC8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230E8-FC19-32D5-50D5-94D4BB305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C01C7-6E3C-506A-1F03-86833DE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F01C-A5AF-EAD1-C23E-40F4A6A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062DB-14AB-3DFE-A728-D5CA212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87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C1BE1-9A9E-F8E4-25ED-A4E65918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8A641-BDA0-5476-5D78-A47CB40B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A3A7E-CA78-393E-4CBB-2FC1984B8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9FD05-0299-461C-8121-9386E0C8B94B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08830-DD7D-8DF0-C90F-DB7D4340D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D0242-EABB-C512-2E6A-711E665CE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843E3-566C-4A59-9F0F-5BE5C8F19E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06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E4B88B-3BD1-915A-005B-C5B7B6813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11875332" y="6858000"/>
            <a:ext cx="51625" cy="45719"/>
          </a:xfrm>
        </p:spPr>
        <p:txBody>
          <a:bodyPr>
            <a:normAutofit fontScale="90000"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839C98-C147-DE52-E6CD-81F8A0FD5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124415"/>
            <a:ext cx="6172200" cy="53562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Introduction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Aptos" panose="020B0004020202020204" pitchFamily="34" charset="0"/>
              </a:rPr>
              <a:t>• Urban intersections often experience </a:t>
            </a:r>
            <a:r>
              <a:rPr lang="en-US" sz="2000" b="1" dirty="0">
                <a:latin typeface="Aptos" panose="020B0004020202020204" pitchFamily="34" charset="0"/>
              </a:rPr>
              <a:t>congestion due to static traffic signal scheduling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• Vehicles entering the intersection without exit space can cause </a:t>
            </a:r>
            <a:r>
              <a:rPr lang="en-US" sz="2000" b="1" dirty="0">
                <a:latin typeface="Aptos" panose="020B0004020202020204" pitchFamily="34" charset="0"/>
              </a:rPr>
              <a:t>gridlock (deadlock)</a:t>
            </a:r>
            <a:r>
              <a:rPr lang="en-US" sz="2000" dirty="0">
                <a:latin typeface="Aptos" panose="020B0004020202020204" pitchFamily="34" charset="0"/>
              </a:rPr>
              <a:t> situations.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Motivation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Aptos" panose="020B0004020202020204" pitchFamily="34" charset="0"/>
              </a:rPr>
              <a:t>• Real-time traffic analysis using </a:t>
            </a:r>
            <a:r>
              <a:rPr lang="en-US" sz="2000" b="1" dirty="0">
                <a:latin typeface="Aptos" panose="020B0004020202020204" pitchFamily="34" charset="0"/>
              </a:rPr>
              <a:t>computer vision</a:t>
            </a:r>
            <a:r>
              <a:rPr lang="en-US" sz="2000" dirty="0">
                <a:latin typeface="Aptos" panose="020B0004020202020204" pitchFamily="34" charset="0"/>
              </a:rPr>
              <a:t> can estimate lane density and intersection occupancy.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• An </a:t>
            </a:r>
            <a:r>
              <a:rPr lang="en-US" sz="2000" b="1" dirty="0">
                <a:latin typeface="Aptos" panose="020B0004020202020204" pitchFamily="34" charset="0"/>
              </a:rPr>
              <a:t>AI based adaptive signal system</a:t>
            </a:r>
            <a:r>
              <a:rPr lang="en-US" sz="2000" dirty="0">
                <a:latin typeface="Aptos" panose="020B0004020202020204" pitchFamily="34" charset="0"/>
              </a:rPr>
              <a:t> can dynamically manage traffic flow and prevent deadlocks.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4A4859E-B363-ACA4-47C1-382EB8B68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24416"/>
            <a:ext cx="6019800" cy="53671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ptos" panose="020B0004020202020204" pitchFamily="34" charset="0"/>
              </a:rPr>
              <a:t>Existing Work</a:t>
            </a:r>
          </a:p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• </a:t>
            </a:r>
            <a:r>
              <a:rPr lang="en-US" sz="2000" b="1" dirty="0">
                <a:latin typeface="Aptos" panose="020B0004020202020204" pitchFamily="34" charset="0"/>
              </a:rPr>
              <a:t>Fixed-time traffic signals</a:t>
            </a:r>
            <a:r>
              <a:rPr lang="en-US" sz="2000" dirty="0">
                <a:latin typeface="Aptos" panose="020B0004020202020204" pitchFamily="34" charset="0"/>
              </a:rPr>
              <a:t> widely used in urban intersections.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• </a:t>
            </a:r>
            <a:r>
              <a:rPr lang="en-US" sz="2000" b="1" dirty="0">
                <a:latin typeface="Aptos" panose="020B0004020202020204" pitchFamily="34" charset="0"/>
              </a:rPr>
              <a:t>Manual traffic control by traffic police</a:t>
            </a:r>
            <a:r>
              <a:rPr lang="en-US" sz="2000" dirty="0">
                <a:latin typeface="Aptos" panose="020B0004020202020204" pitchFamily="34" charset="0"/>
              </a:rPr>
              <a:t> during peak congestion.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• </a:t>
            </a:r>
            <a:r>
              <a:rPr lang="en-US" sz="2000" b="1" dirty="0">
                <a:latin typeface="Aptos" panose="020B0004020202020204" pitchFamily="34" charset="0"/>
              </a:rPr>
              <a:t>Engineer-configured signal timers</a:t>
            </a:r>
            <a:r>
              <a:rPr lang="en-US" sz="2000" dirty="0">
                <a:latin typeface="Aptos" panose="020B0004020202020204" pitchFamily="34" charset="0"/>
              </a:rPr>
              <a:t> based on historical traffic data</a:t>
            </a:r>
            <a:r>
              <a:rPr lang="en-US" sz="2000" dirty="0"/>
              <a:t>.</a:t>
            </a:r>
          </a:p>
          <a:p>
            <a:endParaRPr lang="en-US" dirty="0"/>
          </a:p>
          <a:p>
            <a:r>
              <a:rPr lang="en-US" sz="3000" dirty="0">
                <a:latin typeface="Aptos" panose="020B0004020202020204" pitchFamily="34" charset="0"/>
              </a:rPr>
              <a:t>Gaps</a:t>
            </a:r>
          </a:p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• Fixed timers cannot adapt to </a:t>
            </a:r>
            <a:r>
              <a:rPr lang="en-US" sz="2000" b="1" dirty="0">
                <a:latin typeface="Aptos" panose="020B0004020202020204" pitchFamily="34" charset="0"/>
              </a:rPr>
              <a:t>real-time traffic density variations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• Manual control is </a:t>
            </a:r>
            <a:r>
              <a:rPr lang="en-US" sz="2000" b="1" dirty="0">
                <a:latin typeface="Aptos" panose="020B0004020202020204" pitchFamily="34" charset="0"/>
              </a:rPr>
              <a:t>resource intensive and expensive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  <a:br>
              <a:rPr lang="en-US" sz="2000" dirty="0">
                <a:latin typeface="Aptos" panose="020B0004020202020204" pitchFamily="34" charset="0"/>
              </a:rPr>
            </a:br>
            <a:r>
              <a:rPr lang="en-US" sz="2000" dirty="0">
                <a:latin typeface="Aptos" panose="020B0004020202020204" pitchFamily="34" charset="0"/>
              </a:rPr>
              <a:t>• Current systems rarely handle </a:t>
            </a:r>
            <a:r>
              <a:rPr lang="en-US" sz="2000" b="1" dirty="0">
                <a:latin typeface="Aptos" panose="020B0004020202020204" pitchFamily="34" charset="0"/>
              </a:rPr>
              <a:t>intersection deadlocks or signal coordination</a:t>
            </a:r>
            <a:r>
              <a:rPr lang="en-US" sz="2000" dirty="0">
                <a:latin typeface="Aptos" panose="020B0004020202020204" pitchFamily="34" charset="0"/>
              </a:rPr>
              <a:t>.</a:t>
            </a:r>
          </a:p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9C1118-8D58-9DA5-DCEF-3613F05119D1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21" name="Title 1">
              <a:extLst>
                <a:ext uri="{FF2B5EF4-FFF2-40B4-BE49-F238E27FC236}">
                  <a16:creationId xmlns:a16="http://schemas.microsoft.com/office/drawing/2014/main" id="{8421A50B-6609-AFDD-689D-A5E713D8CB29}"/>
                </a:ext>
              </a:extLst>
            </p:cNvPr>
            <p:cNvSpPr txBox="1">
              <a:spLocks/>
            </p:cNvSpPr>
            <p:nvPr/>
          </p:nvSpPr>
          <p:spPr>
            <a:xfrm>
              <a:off x="3286125" y="6261100"/>
              <a:ext cx="3663315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2301135 </a:t>
              </a:r>
            </a:p>
          </p:txBody>
        </p:sp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194475B1-5A5E-903F-BD8E-AC754086CE63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86125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NAVNEET</a:t>
              </a: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7F1BD94E-A008-DACA-4BEF-C9BA1D850E6A}"/>
                </a:ext>
              </a:extLst>
            </p:cNvPr>
            <p:cNvSpPr txBox="1">
              <a:spLocks/>
            </p:cNvSpPr>
            <p:nvPr/>
          </p:nvSpPr>
          <p:spPr>
            <a:xfrm>
              <a:off x="6949440" y="6261100"/>
              <a:ext cx="5242560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Supervisor: Dr Ferdous A Barbhuiya</a:t>
              </a:r>
            </a:p>
          </p:txBody>
        </p: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EA836EDB-ED8F-3296-E9A3-25FEA0F16EBC}"/>
              </a:ext>
            </a:extLst>
          </p:cNvPr>
          <p:cNvSpPr txBox="1">
            <a:spLocks/>
          </p:cNvSpPr>
          <p:nvPr/>
        </p:nvSpPr>
        <p:spPr>
          <a:xfrm>
            <a:off x="0" y="-4116"/>
            <a:ext cx="12192000" cy="111764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bg1"/>
                </a:solidFill>
              </a:rPr>
              <a:t>Project title: </a:t>
            </a:r>
            <a:r>
              <a:rPr lang="en-US" sz="3700" dirty="0">
                <a:solidFill>
                  <a:schemeClr val="bg1">
                    <a:lumMod val="95000"/>
                  </a:schemeClr>
                </a:solidFill>
              </a:rPr>
              <a:t>Automated Traffic Management System </a:t>
            </a:r>
            <a:r>
              <a:rPr lang="en-US" sz="45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4500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4143F702-3024-9C8E-72C2-2C3DF86EF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58" r="30286"/>
          <a:stretch>
            <a:fillRect/>
          </a:stretch>
        </p:blipFill>
        <p:spPr>
          <a:xfrm>
            <a:off x="11064145" y="-8877"/>
            <a:ext cx="1127848" cy="11285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EB7D6F-C3C1-3403-C55E-A430ECDA4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122" y="71273"/>
            <a:ext cx="685800" cy="96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7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8C635D8-8C28-BD2F-1F1E-E2E48CB6EE77}"/>
              </a:ext>
            </a:extLst>
          </p:cNvPr>
          <p:cNvGrpSpPr/>
          <p:nvPr/>
        </p:nvGrpSpPr>
        <p:grpSpPr>
          <a:xfrm>
            <a:off x="-7" y="-10896"/>
            <a:ext cx="12192000" cy="973519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9D0A2EE0-154E-E948-B676-9A0EC519C2E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>
                  <a:solidFill>
                    <a:schemeClr val="bg1"/>
                  </a:solidFill>
                  <a:latin typeface="Aptos" panose="020B0004020202020204" pitchFamily="34" charset="0"/>
                </a:rPr>
                <a:t>Details of proposed work/solutions: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CA020E2-B0BE-DCB2-B3B3-3798AA429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2E23C8D1-D9CA-D2C2-4735-8A8E286E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2016" y="291402"/>
            <a:ext cx="45719" cy="62855"/>
          </a:xfrm>
        </p:spPr>
        <p:txBody>
          <a:bodyPr>
            <a:normAutofit fontScale="90000"/>
          </a:bodyPr>
          <a:lstStyle/>
          <a:p>
            <a:r>
              <a:rPr lang="en-US" sz="100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CF2EB8D9-E378-E25E-C360-0F28B521C43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" y="959357"/>
                <a:ext cx="3768131" cy="55090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1️⃣ Traffic Density Estimation</a:t>
                </a:r>
                <a:endParaRPr lang="en-US" sz="1600" dirty="0"/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smtClean="0"/>
                        </m:ctrlPr>
                      </m:sSubPr>
                      <m:e>
                        <m:r>
                          <a:rPr lang="ar-AE" sz="1600" i="1"/>
                          <m:t>𝑁</m:t>
                        </m:r>
                      </m:e>
                      <m:sub>
                        <m:r>
                          <a:rPr lang="ar-AE" sz="1600" i="1"/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US" sz="1600" dirty="0"/>
                  <a:t>number of vehicles in lane </a:t>
                </a:r>
                <a14:m>
                  <m:oMath xmlns:m="http://schemas.openxmlformats.org/officeDocument/2006/math">
                    <m:r>
                      <a:rPr lang="en-US" sz="1600" i="1"/>
                      <m:t>𝑖</m:t>
                    </m:r>
                  </m:oMath>
                </a14:m>
                <a:endParaRPr lang="en-US" sz="1600" dirty="0"/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/>
                        </m:ctrlPr>
                      </m:sSubPr>
                      <m:e>
                        <m:r>
                          <a:rPr lang="ar-AE" sz="1600" i="1"/>
                          <m:t>𝐿</m:t>
                        </m:r>
                      </m:e>
                      <m:sub>
                        <m:r>
                          <a:rPr lang="ar-AE" sz="1600" i="1"/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US" sz="1600" dirty="0"/>
                  <a:t>length of lane </a:t>
                </a:r>
                <a14:m>
                  <m:oMath xmlns:m="http://schemas.openxmlformats.org/officeDocument/2006/math">
                    <m:r>
                      <a:rPr lang="en-US" sz="1600" i="1"/>
                      <m:t>𝑖</m:t>
                    </m:r>
                  </m:oMath>
                </a14:m>
                <a:endParaRPr lang="en-US" sz="1600" i="1" dirty="0"/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US" sz="1600" dirty="0"/>
                  <a:t>density of lane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Higher density → higher congestion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dirty="0"/>
                  <a:t>2️⃣ Lane Priority Score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1600" dirty="0"/>
                  <a:t>Each lane receives a priority score based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sz="1600" dirty="0"/>
                  <a:t> on </a:t>
                </a:r>
                <a:r>
                  <a:rPr lang="en-US" sz="1600" b="1" dirty="0"/>
                  <a:t>density, queue length, and emergency vehicles</a:t>
                </a:r>
                <a:r>
                  <a:rPr lang="en-US" sz="1600" dirty="0"/>
                  <a:t>.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US" sz="1600" dirty="0"/>
                  <a:t>priority score of lane I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US" sz="1600" dirty="0"/>
                  <a:t>traffic density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US" sz="1600" dirty="0"/>
                  <a:t>queue length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US" sz="1600" dirty="0"/>
                  <a:t>emergency vehicle indicator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600" b="1" dirty="0"/>
                  <a:t>α, β, γ</a:t>
                </a:r>
                <a:r>
                  <a:rPr lang="en-US" sz="1600" dirty="0"/>
                  <a:t> → weighting factors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sz="1600" dirty="0"/>
              </a:p>
              <a:p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CF2EB8D9-E378-E25E-C360-0F28B521C4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" y="959357"/>
                <a:ext cx="3768131" cy="5509091"/>
              </a:xfrm>
              <a:blipFill>
                <a:blip r:embed="rId4"/>
                <a:stretch>
                  <a:fillRect l="-809" t="-996" r="-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BD276BAD-2CCC-A5FA-BC63-A1A4E809AB8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3768132" y="1016748"/>
                <a:ext cx="3262365" cy="4151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3️⃣ Adaptive Signal Timing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=</a:t>
                </a:r>
                <a:r>
                  <a:rPr lang="en-US" sz="1600" dirty="0"/>
                  <a:t> </a:t>
                </a:r>
                <a:r>
                  <a:rPr lang="ar-AE" sz="1600" dirty="0"/>
                  <a:t> </a:t>
                </a:r>
                <a:r>
                  <a:rPr lang="en-US" sz="1600" dirty="0"/>
                  <a:t>green time for lane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1600" dirty="0"/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US" sz="1600" dirty="0"/>
                  <a:t>minimum green time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= scaling factor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4️⃣</a:t>
                </a:r>
                <a:r>
                  <a:rPr lang="en-US" sz="1600" b="1" dirty="0"/>
                  <a:t>Deadlock Detection </a:t>
                </a:r>
              </a:p>
              <a:p>
                <a:pPr>
                  <a:spcBef>
                    <a:spcPts val="300"/>
                  </a:spcBef>
                </a:pPr>
                <a:r>
                  <a:rPr lang="en-US" sz="1600" dirty="0"/>
                  <a:t>Deadlock occurs when vehicles </a:t>
                </a:r>
              </a:p>
              <a:p>
                <a:pPr marL="0" indent="0">
                  <a:spcBef>
                    <a:spcPts val="300"/>
                  </a:spcBef>
                  <a:buNone/>
                </a:pPr>
                <a:r>
                  <a:rPr lang="en-US" sz="1600" dirty="0"/>
                  <a:t>block the </a:t>
                </a:r>
                <a:r>
                  <a:rPr lang="en-US" sz="1600" b="1" dirty="0"/>
                  <a:t>intersection box</a:t>
                </a:r>
                <a:r>
                  <a:rPr lang="en-US" sz="1600" dirty="0"/>
                  <a:t>.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600" dirty="0"/>
                  <a:t>= vehicles in intersection box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600" dirty="0"/>
                  <a:t>= </a:t>
                </a:r>
                <a:r>
                  <a:rPr lang="en-US" sz="1600" dirty="0"/>
                  <a:t>exit lane occupancy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600" dirty="0"/>
                  <a:t>= vehicle speed</a:t>
                </a:r>
              </a:p>
              <a:p>
                <a:pPr marL="0" indent="0">
                  <a:spcBef>
                    <a:spcPts val="600"/>
                  </a:spcBef>
                  <a:buNone/>
                </a:pPr>
                <a:r>
                  <a:rPr lang="en-US" sz="1600" dirty="0"/>
                  <a:t>Detection condition: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spcBef>
                    <a:spcPts val="600"/>
                  </a:spcBef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BD276BAD-2CCC-A5FA-BC63-A1A4E809A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3768132" y="1016748"/>
                <a:ext cx="3262365" cy="4151374"/>
              </a:xfrm>
              <a:blipFill>
                <a:blip r:embed="rId5"/>
                <a:stretch>
                  <a:fillRect l="-935" t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341E8370-1E87-22A3-3D16-7B650A51FA02}"/>
              </a:ext>
            </a:extLst>
          </p:cNvPr>
          <p:cNvGrpSpPr/>
          <p:nvPr/>
        </p:nvGrpSpPr>
        <p:grpSpPr>
          <a:xfrm>
            <a:off x="1" y="6480699"/>
            <a:ext cx="12191999" cy="377301"/>
            <a:chOff x="1" y="6261100"/>
            <a:chExt cx="12191999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D3E8704A-657C-CB51-5040-578F1774B5B4}"/>
                </a:ext>
              </a:extLst>
            </p:cNvPr>
            <p:cNvSpPr txBox="1">
              <a:spLocks/>
            </p:cNvSpPr>
            <p:nvPr/>
          </p:nvSpPr>
          <p:spPr>
            <a:xfrm>
              <a:off x="2212849" y="6261100"/>
              <a:ext cx="4736591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2301135 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F30A105E-2283-5602-29E5-DF866B3FADE1}"/>
                </a:ext>
              </a:extLst>
            </p:cNvPr>
            <p:cNvSpPr txBox="1">
              <a:spLocks/>
            </p:cNvSpPr>
            <p:nvPr/>
          </p:nvSpPr>
          <p:spPr>
            <a:xfrm>
              <a:off x="1" y="6261100"/>
              <a:ext cx="2212848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NAVNEET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17EC6BC5-2167-2E0C-2EBA-28FD769A6C6C}"/>
                </a:ext>
              </a:extLst>
            </p:cNvPr>
            <p:cNvSpPr txBox="1">
              <a:spLocks/>
            </p:cNvSpPr>
            <p:nvPr/>
          </p:nvSpPr>
          <p:spPr>
            <a:xfrm>
              <a:off x="4864608" y="6261100"/>
              <a:ext cx="732739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</a:t>
              </a:r>
              <a:r>
                <a:rPr lang="en-US" sz="1200" dirty="0"/>
                <a:t>  Automated Traffic Management System</a:t>
              </a:r>
              <a:endParaRPr lang="en-IN" sz="1200" b="1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8E44542-89D3-BFBA-FACF-3270F94938D3}"/>
              </a:ext>
            </a:extLst>
          </p:cNvPr>
          <p:cNvSpPr/>
          <p:nvPr/>
        </p:nvSpPr>
        <p:spPr>
          <a:xfrm>
            <a:off x="90435" y="2200589"/>
            <a:ext cx="1326383" cy="37730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Dᵢ = Nᵢ / Lᵢ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EDF1112-5275-DE46-D756-7CCD70A2C2EA}"/>
                  </a:ext>
                </a:extLst>
              </p:cNvPr>
              <p:cNvSpPr/>
              <p:nvPr/>
            </p:nvSpPr>
            <p:spPr>
              <a:xfrm>
                <a:off x="0" y="5788040"/>
                <a:ext cx="2994409" cy="457689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/>
                  <a:t>Pᵢ = </a:t>
                </a:r>
                <a:r>
                  <a:rPr lang="el-GR" i="1" dirty="0"/>
                  <a:t>α</a:t>
                </a:r>
                <a:r>
                  <a:rPr lang="en-US" i="1" dirty="0"/>
                  <a:t>Dᵢ + </a:t>
                </a:r>
                <a:r>
                  <a:rPr lang="el-GR" i="1" dirty="0"/>
                  <a:t>β</a:t>
                </a:r>
                <a:r>
                  <a:rPr lang="en-US" i="1" dirty="0"/>
                  <a:t>Qᵢ + </a:t>
                </a:r>
                <a:r>
                  <a:rPr lang="el-GR" i="1" dirty="0"/>
                  <a:t>γ</a:t>
                </a:r>
                <a:r>
                  <a:rPr lang="en-US" i="1" dirty="0"/>
                  <a:t>Eᵢ  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1100" dirty="0"/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EDF1112-5275-DE46-D756-7CCD70A2C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788040"/>
                <a:ext cx="2994409" cy="457689"/>
              </a:xfrm>
              <a:prstGeom prst="rect">
                <a:avLst/>
              </a:prstGeom>
              <a:blipFill>
                <a:blip r:embed="rId6"/>
                <a:stretch>
                  <a:fillRect l="-203" b="-8974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8E09C42-672A-784C-D8C4-A27C7308CB30}"/>
                  </a:ext>
                </a:extLst>
              </p:cNvPr>
              <p:cNvSpPr/>
              <p:nvPr/>
            </p:nvSpPr>
            <p:spPr>
              <a:xfrm>
                <a:off x="4513384" y="2200589"/>
                <a:ext cx="1868994" cy="377301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i="1" dirty="0"/>
                  <a:t>Gi​=</a:t>
                </a:r>
                <a:r>
                  <a:rPr lang="ar-A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​+ k *Di​</a:t>
                </a:r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8E09C42-672A-784C-D8C4-A27C7308CB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384" y="2200589"/>
                <a:ext cx="1868994" cy="377301"/>
              </a:xfrm>
              <a:prstGeom prst="rect">
                <a:avLst/>
              </a:prstGeom>
              <a:blipFill>
                <a:blip r:embed="rId7"/>
                <a:stretch>
                  <a:fillRect t="-7813" b="-21875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2DF53AD-3A61-864C-BDB1-51D22E462422}"/>
                  </a:ext>
                </a:extLst>
              </p:cNvPr>
              <p:cNvSpPr/>
              <p:nvPr/>
            </p:nvSpPr>
            <p:spPr>
              <a:xfrm>
                <a:off x="3865265" y="4790821"/>
                <a:ext cx="3165232" cy="377301"/>
              </a:xfrm>
              <a:prstGeom prst="rect">
                <a:avLst/>
              </a:prstGeom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𝐷𝑒𝑎𝑑𝑙𝑜𝑐𝑘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≈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2DF53AD-3A61-864C-BDB1-51D22E4624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265" y="4790821"/>
                <a:ext cx="3165232" cy="3773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04EF41B1-7A04-2EE7-4DA8-88D2858F5019}"/>
              </a:ext>
            </a:extLst>
          </p:cNvPr>
          <p:cNvSpPr/>
          <p:nvPr/>
        </p:nvSpPr>
        <p:spPr>
          <a:xfrm>
            <a:off x="7333933" y="2238513"/>
            <a:ext cx="2070870" cy="301451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5222A-5D86-4C4F-769B-AB3C29978C46}"/>
              </a:ext>
            </a:extLst>
          </p:cNvPr>
          <p:cNvSpPr/>
          <p:nvPr/>
        </p:nvSpPr>
        <p:spPr>
          <a:xfrm>
            <a:off x="7267470" y="3469137"/>
            <a:ext cx="2180495" cy="30093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8026E9-2922-4268-11ED-0A19EC002164}"/>
              </a:ext>
            </a:extLst>
          </p:cNvPr>
          <p:cNvSpPr/>
          <p:nvPr/>
        </p:nvSpPr>
        <p:spPr>
          <a:xfrm>
            <a:off x="8631534" y="5678448"/>
            <a:ext cx="657330" cy="251209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89B2DE-BB6F-809B-F413-7CE643EEF40B}"/>
                  </a:ext>
                </a:extLst>
              </p:cNvPr>
              <p:cNvSpPr txBox="1"/>
              <p:nvPr/>
            </p:nvSpPr>
            <p:spPr>
              <a:xfrm>
                <a:off x="7199648" y="957338"/>
                <a:ext cx="2316141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5️⃣ </a:t>
                </a:r>
                <a:r>
                  <a:rPr lang="en-US" sz="1600" b="1" dirty="0"/>
                  <a:t>Deadlock Resolution Strategy</a:t>
                </a:r>
              </a:p>
              <a:p>
                <a:endParaRPr lang="en-US" sz="1600" b="1" dirty="0"/>
              </a:p>
              <a:p>
                <a:r>
                  <a:rPr lang="en-US" sz="1600" u="sng" dirty="0">
                    <a:solidFill>
                      <a:schemeClr val="accent1">
                        <a:lumMod val="75000"/>
                      </a:schemeClr>
                    </a:solidFill>
                  </a:rPr>
                  <a:t>Priority Rule</a:t>
                </a:r>
              </a:p>
              <a:p>
                <a:r>
                  <a:rPr lang="en-US" sz="1600" dirty="0"/>
                  <a:t>Emergency vehicles first: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smtClean="0"/>
                          </m:ctrlPr>
                        </m:sSubPr>
                        <m:e>
                          <m:r>
                            <a:rPr lang="ar-AE" sz="1600" i="1"/>
                            <m:t>𝐸</m:t>
                          </m:r>
                        </m:e>
                        <m:sub>
                          <m:r>
                            <a:rPr lang="ar-AE" sz="1600" i="1"/>
                            <m:t>𝑖</m:t>
                          </m:r>
                        </m:sub>
                      </m:sSub>
                      <m:r>
                        <a:rPr lang="ar-AE" sz="1600"/>
                        <m:t>=</m:t>
                      </m:r>
                      <m:r>
                        <a:rPr lang="ar-AE" sz="1600"/>
                        <m:t>1</m:t>
                      </m:r>
                      <m:r>
                        <a:rPr lang="ar-AE" sz="1600"/>
                        <m:t>⇒</m:t>
                      </m:r>
                      <m:r>
                        <a:rPr lang="ar-AE" sz="1600" i="1"/>
                        <m:t>𝑃𝑟𝑖𝑜𝑟𝑖𝑡𝑦</m:t>
                      </m:r>
                      <m:r>
                        <a:rPr lang="ar-AE" sz="1600"/>
                        <m:t>=</m:t>
                      </m:r>
                      <m:r>
                        <a:rPr lang="ar-AE" sz="1600" i="1"/>
                        <m:t>𝑖</m:t>
                      </m:r>
                    </m:oMath>
                  </m:oMathPara>
                </a14:m>
                <a:endParaRPr lang="ar-AE" sz="1600" dirty="0"/>
              </a:p>
              <a:p>
                <a:endParaRPr lang="en-US" sz="1600" dirty="0"/>
              </a:p>
              <a:p>
                <a:r>
                  <a:rPr lang="en-US" sz="1600" dirty="0"/>
                  <a:t>Otherwise select lane with maximum queue length: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/>
                        <m:t>𝑃𝑟𝑖𝑜𝑟𝑖𝑡𝑦</m:t>
                      </m:r>
                      <m:r>
                        <a:rPr lang="en-US" sz="1600"/>
                        <m:t>=</m:t>
                      </m:r>
                      <m:func>
                        <m:funcPr>
                          <m:ctrlPr>
                            <a:rPr lang="ar-AE" sz="1600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/>
                            <m:t>arg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sz="1600"/>
                            <m:t>max</m:t>
                          </m:r>
                        </m:e>
                      </m:func>
                      <m:r>
                        <a:rPr lang="ar-AE" sz="1600"/>
                        <m:t>⁡</m:t>
                      </m:r>
                      <m:d>
                        <m:dPr>
                          <m:ctrlPr>
                            <a:rPr lang="ar-AE" sz="1600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i="1"/>
                              </m:ctrlPr>
                            </m:sSubPr>
                            <m:e>
                              <m:r>
                                <a:rPr lang="ar-AE" sz="1600" i="1"/>
                                <m:t>𝑄</m:t>
                              </m:r>
                            </m:e>
                            <m:sub>
                              <m:r>
                                <a:rPr lang="ar-AE" sz="1600" i="1"/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600" dirty="0"/>
              </a:p>
              <a:p>
                <a:endParaRPr lang="en-US" sz="1600" u="sng" dirty="0"/>
              </a:p>
              <a:p>
                <a:r>
                  <a:rPr lang="en-US" sz="1600" u="sng" dirty="0">
                    <a:solidFill>
                      <a:schemeClr val="accent1">
                        <a:lumMod val="75000"/>
                      </a:schemeClr>
                    </a:solidFill>
                  </a:rPr>
                  <a:t>Clearing Strategy</a:t>
                </a:r>
              </a:p>
              <a:p>
                <a:r>
                  <a:rPr lang="en-US" sz="1600" dirty="0"/>
                  <a:t>Step 1: Stop new vehicles entering intersection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/>
                        <m:t>𝐸𝑛𝑡𝑟</m:t>
                      </m:r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𝑦</m:t>
                          </m:r>
                        </m:e>
                        <m:sub>
                          <m:r>
                            <a:rPr lang="ar-AE" sz="1600" i="1"/>
                            <m:t>𝑖</m:t>
                          </m:r>
                        </m:sub>
                      </m:sSub>
                      <m:r>
                        <a:rPr lang="ar-AE" sz="1600"/>
                        <m:t>=</m:t>
                      </m:r>
                      <m:r>
                        <a:rPr lang="ar-AE" sz="1600"/>
                        <m:t>0</m:t>
                      </m:r>
                    </m:oMath>
                  </m:oMathPara>
                </a14:m>
                <a:endParaRPr lang="ar-AE" sz="1600" dirty="0"/>
              </a:p>
              <a:p>
                <a:r>
                  <a:rPr lang="en-US" sz="1600" dirty="0"/>
                  <a:t>Step 2: Allow highest priority lane to move.</a:t>
                </a:r>
              </a:p>
              <a:p>
                <a:r>
                  <a:rPr lang="en-US" sz="1600" dirty="0"/>
                  <a:t>Step 3: Resume adaptive scheduling once </a:t>
                </a:r>
                <a14:m>
                  <m:oMath xmlns:m="http://schemas.openxmlformats.org/officeDocument/2006/math">
                    <m:r>
                      <a:rPr lang="en-US" sz="1600" i="1"/>
                      <m:t>𝐵</m:t>
                    </m:r>
                    <m:r>
                      <a:rPr lang="en-US" sz="1600"/>
                      <m:t>→</m:t>
                    </m:r>
                    <m:r>
                      <a:rPr lang="en-US" sz="1600"/>
                      <m:t>0</m:t>
                    </m:r>
                  </m:oMath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89B2DE-BB6F-809B-F413-7CE643EEF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648" y="957338"/>
                <a:ext cx="2316141" cy="5324535"/>
              </a:xfrm>
              <a:prstGeom prst="rect">
                <a:avLst/>
              </a:prstGeom>
              <a:blipFill>
                <a:blip r:embed="rId9"/>
                <a:stretch>
                  <a:fillRect l="-2105" t="-687" r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CF30043-4326-B6D1-DCFE-92DD76920A9C}"/>
              </a:ext>
            </a:extLst>
          </p:cNvPr>
          <p:cNvSpPr txBox="1"/>
          <p:nvPr/>
        </p:nvSpPr>
        <p:spPr>
          <a:xfrm>
            <a:off x="9650074" y="974874"/>
            <a:ext cx="2417661" cy="5078313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Visual Workflow :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Traffic Cameras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Vehicle Detection (YOLO)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Lane Mapping &amp; Vehicle Count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Traffic Density Calculation</a:t>
            </a:r>
          </a:p>
          <a:p>
            <a:r>
              <a:rPr lang="en-US" sz="1600" dirty="0"/>
              <a:t>(Dᵢ = Nᵢ / Lᵢ)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Priority Calculation</a:t>
            </a:r>
          </a:p>
          <a:p>
            <a:r>
              <a:rPr lang="en-US" sz="1600" dirty="0"/>
              <a:t>(Pᵢ = </a:t>
            </a:r>
            <a:r>
              <a:rPr lang="el-GR" sz="1600" dirty="0"/>
              <a:t>α</a:t>
            </a:r>
            <a:r>
              <a:rPr lang="en-US" sz="1600" dirty="0"/>
              <a:t>Dᵢ + </a:t>
            </a:r>
            <a:r>
              <a:rPr lang="el-GR" sz="1600" dirty="0"/>
              <a:t>β</a:t>
            </a:r>
            <a:r>
              <a:rPr lang="en-US" sz="1600" dirty="0"/>
              <a:t>Qᵢ + </a:t>
            </a:r>
            <a:r>
              <a:rPr lang="el-GR" sz="1600" dirty="0"/>
              <a:t>γ</a:t>
            </a:r>
            <a:r>
              <a:rPr lang="en-US" sz="1600" dirty="0"/>
              <a:t>Eᵢ)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Deadlock Detection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Signal Decision Engine</a:t>
            </a:r>
          </a:p>
          <a:p>
            <a:r>
              <a:rPr lang="en-US" sz="1600" dirty="0"/>
              <a:t>      ↓</a:t>
            </a:r>
          </a:p>
          <a:p>
            <a:r>
              <a:rPr lang="en-US" sz="1600" dirty="0"/>
              <a:t>Traffic Signal Control</a:t>
            </a:r>
          </a:p>
        </p:txBody>
      </p:sp>
    </p:spTree>
    <p:extLst>
      <p:ext uri="{BB962C8B-B14F-4D97-AF65-F5344CB8AC3E}">
        <p14:creationId xmlns:p14="http://schemas.microsoft.com/office/powerpoint/2010/main" val="267036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86EA4-504E-4B44-A0FA-89B818D6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E77B3F-AF84-7988-1431-5D9D2AA914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05678"/>
            <a:ext cx="5774634" cy="575800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BD31F17-3A7D-4332-FF96-CD031DA0293F}"/>
              </a:ext>
            </a:extLst>
          </p:cNvPr>
          <p:cNvGrpSpPr/>
          <p:nvPr/>
        </p:nvGrpSpPr>
        <p:grpSpPr>
          <a:xfrm>
            <a:off x="0" y="-8877"/>
            <a:ext cx="12192000" cy="1128532"/>
            <a:chOff x="0" y="1"/>
            <a:chExt cx="12192000" cy="1128532"/>
          </a:xfrm>
        </p:grpSpPr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48CE9F7E-6FC5-8134-76B2-E703B2F75801}"/>
                </a:ext>
              </a:extLst>
            </p:cNvPr>
            <p:cNvSpPr txBox="1">
              <a:spLocks/>
            </p:cNvSpPr>
            <p:nvPr/>
          </p:nvSpPr>
          <p:spPr>
            <a:xfrm>
              <a:off x="0" y="4762"/>
              <a:ext cx="12192000" cy="11176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dirty="0"/>
                <a:t>Work Done till date:</a:t>
              </a:r>
            </a:p>
          </p:txBody>
        </p:sp>
        <p:pic>
          <p:nvPicPr>
            <p:cNvPr id="8" name="Picture 7" descr="A blue and white logo&#10;&#10;AI-generated content may be incorrect.">
              <a:extLst>
                <a:ext uri="{FF2B5EF4-FFF2-40B4-BE49-F238E27FC236}">
                  <a16:creationId xmlns:a16="http://schemas.microsoft.com/office/drawing/2014/main" id="{071D131A-A591-2D82-7001-4C9AE11B9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8" r="30286"/>
            <a:stretch>
              <a:fillRect/>
            </a:stretch>
          </p:blipFill>
          <p:spPr>
            <a:xfrm>
              <a:off x="11064145" y="1"/>
              <a:ext cx="1127848" cy="1128532"/>
            </a:xfrm>
            <a:prstGeom prst="rect">
              <a:avLst/>
            </a:prstGeom>
          </p:spPr>
        </p:pic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621886E-B3AF-1B89-B930-F2746655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24416"/>
            <a:ext cx="12191993" cy="535015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>
              <a:latin typeface="Calibri (Body)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IN" dirty="0">
              <a:latin typeface="Calibri (Body)"/>
            </a:endParaRPr>
          </a:p>
          <a:p>
            <a:pPr marL="0" indent="0">
              <a:buNone/>
            </a:pPr>
            <a:endParaRPr lang="en-IN" dirty="0">
              <a:latin typeface="Calibri (Body)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62E042-32F2-FA18-2746-0AFB933EE614}"/>
              </a:ext>
            </a:extLst>
          </p:cNvPr>
          <p:cNvGrpSpPr/>
          <p:nvPr/>
        </p:nvGrpSpPr>
        <p:grpSpPr>
          <a:xfrm>
            <a:off x="0" y="6480699"/>
            <a:ext cx="12192000" cy="377301"/>
            <a:chOff x="0" y="6261100"/>
            <a:chExt cx="12192000" cy="596900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32090CDE-A58B-E16F-A46A-1976839F89E1}"/>
                </a:ext>
              </a:extLst>
            </p:cNvPr>
            <p:cNvSpPr txBox="1">
              <a:spLocks/>
            </p:cNvSpPr>
            <p:nvPr/>
          </p:nvSpPr>
          <p:spPr>
            <a:xfrm>
              <a:off x="3200399" y="6261100"/>
              <a:ext cx="3084959" cy="5969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Roll No: 2301135</a:t>
              </a:r>
            </a:p>
          </p:txBody>
        </p:sp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AB063C7F-3F5B-B978-63C2-9CF5E6412C59}"/>
                </a:ext>
              </a:extLst>
            </p:cNvPr>
            <p:cNvSpPr txBox="1">
              <a:spLocks/>
            </p:cNvSpPr>
            <p:nvPr/>
          </p:nvSpPr>
          <p:spPr>
            <a:xfrm>
              <a:off x="0" y="6261100"/>
              <a:ext cx="3200399" cy="5969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>
                  <a:latin typeface="+mn-lt"/>
                </a:rPr>
                <a:t>Name: NAVNEET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FAE4836D-3588-F827-2BA9-CEE35B153A9C}"/>
                </a:ext>
              </a:extLst>
            </p:cNvPr>
            <p:cNvSpPr txBox="1">
              <a:spLocks/>
            </p:cNvSpPr>
            <p:nvPr/>
          </p:nvSpPr>
          <p:spPr>
            <a:xfrm>
              <a:off x="6285358" y="6261100"/>
              <a:ext cx="5906642" cy="5969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IN" sz="1200" b="1" dirty="0"/>
                <a:t>Project Title: </a:t>
              </a:r>
              <a:r>
                <a:rPr lang="en-US" sz="1200" dirty="0"/>
                <a:t>Automated Traffic Management System</a:t>
              </a:r>
              <a:endParaRPr lang="en-IN" sz="1200" b="1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E2271FC-DED2-F4A4-7142-E67D523FFCC1}"/>
              </a:ext>
            </a:extLst>
          </p:cNvPr>
          <p:cNvSpPr txBox="1"/>
          <p:nvPr/>
        </p:nvSpPr>
        <p:spPr>
          <a:xfrm>
            <a:off x="5774635" y="1616859"/>
            <a:ext cx="24346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1️⃣ Vehicle Detection Result</a:t>
            </a:r>
            <a:endParaRPr lang="en-US" sz="1400" dirty="0"/>
          </a:p>
          <a:p>
            <a:r>
              <a:rPr lang="en-US" sz="1400" dirty="0"/>
              <a:t>YOLO bounding boxes</a:t>
            </a:r>
          </a:p>
          <a:p>
            <a:r>
              <a:rPr lang="en-US" sz="1400" dirty="0"/>
              <a:t>vehicle labels (car, bike, truck)</a:t>
            </a:r>
            <a:br>
              <a:rPr lang="en-US" sz="1400" dirty="0"/>
            </a:b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E1019E-2DE4-1B52-BFA9-3CF5061BB2BA}"/>
              </a:ext>
            </a:extLst>
          </p:cNvPr>
          <p:cNvSpPr txBox="1"/>
          <p:nvPr/>
        </p:nvSpPr>
        <p:spPr>
          <a:xfrm>
            <a:off x="8173720" y="1616859"/>
            <a:ext cx="227584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2️⃣ Multi-Lane Traffic Monitoring</a:t>
            </a:r>
          </a:p>
          <a:p>
            <a:r>
              <a:rPr lang="en-US" sz="1400" dirty="0"/>
              <a:t>North / South / East / West vehicle counts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7C895E-EEE6-B95C-C5A9-A0A946D6C971}"/>
              </a:ext>
            </a:extLst>
          </p:cNvPr>
          <p:cNvSpPr txBox="1"/>
          <p:nvPr/>
        </p:nvSpPr>
        <p:spPr>
          <a:xfrm>
            <a:off x="10449560" y="1605972"/>
            <a:ext cx="17068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3️⃣ Traffic Dashboard</a:t>
            </a:r>
          </a:p>
          <a:p>
            <a:r>
              <a:rPr lang="en-US" sz="1400" dirty="0"/>
              <a:t>lane vehicle counts</a:t>
            </a:r>
          </a:p>
          <a:p>
            <a:r>
              <a:rPr lang="en-US" sz="1400" dirty="0"/>
              <a:t>signal timers</a:t>
            </a:r>
          </a:p>
          <a:p>
            <a:r>
              <a:rPr lang="en-US" sz="1400" dirty="0"/>
              <a:t>deadlock alerts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ED9616-E3C6-4891-88C7-519E9A2BCBEB}"/>
              </a:ext>
            </a:extLst>
          </p:cNvPr>
          <p:cNvSpPr txBox="1"/>
          <p:nvPr/>
        </p:nvSpPr>
        <p:spPr>
          <a:xfrm>
            <a:off x="5774635" y="1219200"/>
            <a:ext cx="6381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Detection Result: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A0B3CE-C374-1C6D-2E24-1E445D08ADA2}"/>
              </a:ext>
            </a:extLst>
          </p:cNvPr>
          <p:cNvSpPr txBox="1"/>
          <p:nvPr/>
        </p:nvSpPr>
        <p:spPr>
          <a:xfrm>
            <a:off x="5774635" y="3214211"/>
            <a:ext cx="638179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Result Achieved: </a:t>
            </a:r>
          </a:p>
          <a:p>
            <a:endParaRPr lang="en-US" b="1" dirty="0"/>
          </a:p>
          <a:p>
            <a:r>
              <a:rPr lang="en-US" sz="1600" b="1" dirty="0">
                <a:latin typeface="Aptos" panose="020B0004020202020204" pitchFamily="34" charset="0"/>
              </a:rPr>
              <a:t>Prototype Development</a:t>
            </a:r>
          </a:p>
          <a:p>
            <a:r>
              <a:rPr lang="en-US" sz="1600" dirty="0">
                <a:latin typeface="Aptos" panose="020B0004020202020204" pitchFamily="34" charset="0"/>
              </a:rPr>
              <a:t>• AI-based  traffic  monitoring system implemented using YOLO object detection</a:t>
            </a:r>
            <a:br>
              <a:rPr lang="en-US" sz="1600" dirty="0">
                <a:latin typeface="Aptos" panose="020B0004020202020204" pitchFamily="34" charset="0"/>
              </a:rPr>
            </a:br>
            <a:r>
              <a:rPr lang="en-US" sz="1600" dirty="0">
                <a:latin typeface="Aptos" panose="020B0004020202020204" pitchFamily="34" charset="0"/>
              </a:rPr>
              <a:t>• Multi-lane vehicle detection and traffic density estimation </a:t>
            </a:r>
          </a:p>
          <a:p>
            <a:endParaRPr lang="en-US" sz="1600" b="1" dirty="0">
              <a:latin typeface="Aptos" panose="020B0004020202020204" pitchFamily="34" charset="0"/>
            </a:endParaRPr>
          </a:p>
          <a:p>
            <a:r>
              <a:rPr lang="en-US" sz="1600" b="1" dirty="0">
                <a:latin typeface="Aptos" panose="020B0004020202020204" pitchFamily="34" charset="0"/>
              </a:rPr>
              <a:t>System Capabilities</a:t>
            </a:r>
          </a:p>
          <a:p>
            <a:r>
              <a:rPr lang="en-US" sz="1600" dirty="0">
                <a:latin typeface="Aptos" panose="020B0004020202020204" pitchFamily="34" charset="0"/>
              </a:rPr>
              <a:t>• Real-time vehicle detection and classification</a:t>
            </a:r>
            <a:br>
              <a:rPr lang="en-US" sz="1600" dirty="0">
                <a:latin typeface="Aptos" panose="020B0004020202020204" pitchFamily="34" charset="0"/>
              </a:rPr>
            </a:br>
            <a:r>
              <a:rPr lang="en-US" sz="1600" dirty="0">
                <a:latin typeface="Aptos" panose="020B0004020202020204" pitchFamily="34" charset="0"/>
              </a:rPr>
              <a:t>• Lane density calculation and priority scoring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42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573</Words>
  <Application>Microsoft Office PowerPoint</Application>
  <PresentationFormat>Widescreen</PresentationFormat>
  <Paragraphs>124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Arial</vt:lpstr>
      <vt:lpstr>Calibri</vt:lpstr>
      <vt:lpstr>Calibri (Body)</vt:lpstr>
      <vt:lpstr>Calibri Light</vt:lpstr>
      <vt:lpstr>Cambria Math</vt:lpstr>
      <vt:lpstr>Wingdings</vt:lpstr>
      <vt:lpstr>Office Theme</vt:lpstr>
      <vt:lpstr>.</vt:lpstr>
      <vt:lpstr>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Manojit Ghose</dc:creator>
  <cp:lastModifiedBy>Pushpendra Gupta</cp:lastModifiedBy>
  <cp:revision>5</cp:revision>
  <dcterms:created xsi:type="dcterms:W3CDTF">2025-09-08T13:03:57Z</dcterms:created>
  <dcterms:modified xsi:type="dcterms:W3CDTF">2026-03-11T11:12:18Z</dcterms:modified>
</cp:coreProperties>
</file>